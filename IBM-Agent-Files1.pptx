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FE1E6-8C5C-4576-A703-0AA41BA6A8C7}" v="3" dt="2026-09-23T07:01:55.072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unath S Dyamugol" userId="59542a711d9f64b9" providerId="LiveId" clId="{E72F9EC6-A63B-4D94-9385-44923AD9714C}"/>
    <pc:docChg chg="custSel modSld">
      <pc:chgData name="Manjunath S Dyamugol" userId="59542a711d9f64b9" providerId="LiveId" clId="{E72F9EC6-A63B-4D94-9385-44923AD9714C}" dt="2026-09-23T07:07:27.138" v="174"/>
      <pc:docMkLst>
        <pc:docMk/>
      </pc:docMkLst>
      <pc:sldChg chg="delSp modSp mod">
        <pc:chgData name="Manjunath S Dyamugol" userId="59542a711d9f64b9" providerId="LiveId" clId="{E72F9EC6-A63B-4D94-9385-44923AD9714C}" dt="2026-09-23T07:07:27.138" v="174"/>
        <pc:sldMkLst>
          <pc:docMk/>
          <pc:sldMk cId="952317876" sldId="291"/>
        </pc:sldMkLst>
        <pc:spChg chg="del mod">
          <ac:chgData name="Manjunath S Dyamugol" userId="59542a711d9f64b9" providerId="LiveId" clId="{E72F9EC6-A63B-4D94-9385-44923AD9714C}" dt="2026-09-23T07:07:27.138" v="174"/>
          <ac:spMkLst>
            <pc:docMk/>
            <pc:sldMk cId="952317876" sldId="291"/>
            <ac:spMk id="3" creationId="{B0B023FA-CFEB-ACE9-8425-7E72E307CDC5}"/>
          </ac:spMkLst>
        </pc:spChg>
        <pc:spChg chg="mod">
          <ac:chgData name="Manjunath S Dyamugol" userId="59542a711d9f64b9" providerId="LiveId" clId="{E72F9EC6-A63B-4D94-9385-44923AD9714C}" dt="2026-09-23T07:02:17.134" v="106" actId="14100"/>
          <ac:spMkLst>
            <pc:docMk/>
            <pc:sldMk cId="952317876" sldId="291"/>
            <ac:spMk id="4" creationId="{A828B9EF-C084-F5D4-CA27-75AF7D995640}"/>
          </ac:spMkLst>
        </pc:spChg>
        <pc:spChg chg="mod">
          <ac:chgData name="Manjunath S Dyamugol" userId="59542a711d9f64b9" providerId="LiveId" clId="{E72F9EC6-A63B-4D94-9385-44923AD9714C}" dt="2026-09-23T07:00:59.724" v="33" actId="20577"/>
          <ac:spMkLst>
            <pc:docMk/>
            <pc:sldMk cId="952317876" sldId="291"/>
            <ac:spMk id="7" creationId="{3D723CA3-EC2D-165A-F109-3759C4E9C8A4}"/>
          </ac:spMkLst>
        </pc:spChg>
        <pc:graphicFrameChg chg="mod modGraphic">
          <ac:chgData name="Manjunath S Dyamugol" userId="59542a711d9f64b9" providerId="LiveId" clId="{E72F9EC6-A63B-4D94-9385-44923AD9714C}" dt="2026-09-23T07:03:41.504" v="170" actId="255"/>
          <ac:graphicFrameMkLst>
            <pc:docMk/>
            <pc:sldMk cId="952317876" sldId="291"/>
            <ac:graphicFrameMk id="96" creationId="{00000000-0000-0000-0000-000000000000}"/>
          </ac:graphicFrameMkLst>
        </pc:graphicFrameChg>
        <pc:picChg chg="del">
          <ac:chgData name="Manjunath S Dyamugol" userId="59542a711d9f64b9" providerId="LiveId" clId="{E72F9EC6-A63B-4D94-9385-44923AD9714C}" dt="2026-09-23T07:07:27.136" v="172" actId="478"/>
          <ac:picMkLst>
            <pc:docMk/>
            <pc:sldMk cId="952317876" sldId="291"/>
            <ac:picMk id="9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8945848"/>
              </p:ext>
            </p:extLst>
          </p:nvPr>
        </p:nvGraphicFramePr>
        <p:xfrm>
          <a:off x="1299257" y="2600314"/>
          <a:ext cx="9394989" cy="2218573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63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22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Manjunath S Dyamugol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manjunathsdyamugol7@gmail.com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8660742824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2" y="1526122"/>
            <a:ext cx="9488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Domain of  Project – </a:t>
            </a:r>
            <a:r>
              <a:rPr lang="en-IN" sz="2000" dirty="0"/>
              <a:t>Artificial Intelligence (AI) and Financial Technology (FinTech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/>
              <a:t>AI-Powered Investment Analyst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:</a:t>
            </a:r>
            <a:r>
              <a:rPr lang="en-IN" sz="1800" b="1" dirty="0"/>
              <a:t>Individual investors and students lack accessible, affordable tools to </a:t>
            </a:r>
            <a:r>
              <a:rPr lang="en-IN" sz="1800" b="1" dirty="0" err="1"/>
              <a:t>analyze</a:t>
            </a:r>
            <a:r>
              <a:rPr lang="en-IN" sz="1800" b="1" dirty="0"/>
              <a:t> investment opportunities, assess financial risk, and interpret complex financial documents — without needing a financial advisor.</a:t>
            </a:r>
          </a:p>
          <a:p>
            <a:r>
              <a:rPr lang="en-IN" sz="1800" dirty="0"/>
              <a:t>Specifically:</a:t>
            </a:r>
          </a:p>
          <a:p>
            <a:pPr lvl="0"/>
            <a:r>
              <a:rPr lang="en-IN" sz="1800" b="1" dirty="0"/>
              <a:t>Information overload</a:t>
            </a:r>
            <a:r>
              <a:rPr lang="en-IN" sz="1800" dirty="0"/>
              <a:t> — Financial reports (PDFs, spreadsheets) are dense and hard to interpret for non-experts.</a:t>
            </a:r>
          </a:p>
          <a:p>
            <a:pPr lvl="0"/>
            <a:r>
              <a:rPr lang="en-IN" sz="1800" b="1" dirty="0"/>
              <a:t>Risk blindness</a:t>
            </a:r>
            <a:r>
              <a:rPr lang="en-IN" sz="1800" dirty="0"/>
              <a:t> — Most retail investors don't have a structured way to assess and quantify investment risk before committing capital.</a:t>
            </a:r>
          </a:p>
          <a:p>
            <a:pPr lvl="0"/>
            <a:r>
              <a:rPr lang="en-IN" sz="1800" b="1" dirty="0"/>
              <a:t>No real-time guidance</a:t>
            </a:r>
            <a:r>
              <a:rPr lang="en-IN" sz="1800" dirty="0"/>
              <a:t> — There's no always-available, conversational assistant to answer investment questions in plain language.</a:t>
            </a:r>
          </a:p>
          <a:p>
            <a:pPr lvl="0"/>
            <a:r>
              <a:rPr lang="en-IN" sz="1800" b="1" dirty="0"/>
              <a:t>Fragmented workflow</a:t>
            </a:r>
            <a:r>
              <a:rPr lang="en-IN" sz="1800" dirty="0"/>
              <a:t> — </a:t>
            </a:r>
            <a:r>
              <a:rPr lang="en-IN" sz="1800" dirty="0" err="1"/>
              <a:t>Analyzing</a:t>
            </a:r>
            <a:r>
              <a:rPr lang="en-IN" sz="1800" dirty="0"/>
              <a:t>, tracking, and reporting investments requires multiple disconnected tools.</a:t>
            </a:r>
          </a:p>
          <a:p>
            <a:pPr lvl="0"/>
            <a:r>
              <a:rPr lang="en-IN" sz="1800" b="1" dirty="0"/>
              <a:t>High barrier to entry</a:t>
            </a:r>
            <a:r>
              <a:rPr lang="en-IN" sz="1800" dirty="0"/>
              <a:t> — Professional financial analysis tools (Bloomberg, Morningstar) are expensive and inaccessible to students and beginners</a:t>
            </a:r>
          </a:p>
          <a:p>
            <a:pPr fontAlgn="base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6616" y="772775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667512" y="1026128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2000" b="1" dirty="0"/>
              <a:t>Proposed Solution:</a:t>
            </a:r>
            <a:endParaRPr lang="en-US" sz="20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83DBD0-AAFA-82D9-73C2-16C9B0B21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15849"/>
              </p:ext>
            </p:extLst>
          </p:nvPr>
        </p:nvGraphicFramePr>
        <p:xfrm>
          <a:off x="838200" y="1764792"/>
          <a:ext cx="10515600" cy="4389119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55509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69583676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800" b="1" dirty="0">
                          <a:effectLst/>
                        </a:rPr>
                        <a:t>Problem</a:t>
                      </a:r>
                      <a:endParaRPr lang="en-IN" sz="1800" b="1" i="0" dirty="0">
                        <a:solidFill>
                          <a:srgbClr val="BFBF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800" b="1" dirty="0">
                          <a:effectLst/>
                        </a:rPr>
                        <a:t>Solution</a:t>
                      </a:r>
                      <a:endParaRPr lang="en-IN" sz="1800" b="1" i="0" dirty="0">
                        <a:solidFill>
                          <a:srgbClr val="BFBF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69157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reports are too complex to read</a:t>
                      </a:r>
                      <a:endParaRPr lang="en-IN" sz="1600" b="0" i="0" dirty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reads &amp; summarizes uploaded PDFs/DOCX/XLSX in plain English</a:t>
                      </a:r>
                      <a:endParaRPr lang="en-IN" sz="1600" b="0" i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33624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structured way to assess investment risk</a:t>
                      </a:r>
                      <a:endParaRPr lang="en-IN" sz="1600" b="0" i="0" dirty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 scorer (0–100) with breakdown of risk factors vs. growth signals</a:t>
                      </a:r>
                      <a:endParaRPr lang="en-IN" sz="1600" b="0" i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349728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on-demand financial guidance</a:t>
                      </a:r>
                      <a:endParaRPr lang="en-IN" sz="1600" b="0" i="0" dirty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24/7 AI chat assistant for investment questions</a:t>
                      </a:r>
                      <a:endParaRPr lang="en-IN" sz="1600" b="0" i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92033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Portfolio tracking is fragmented</a:t>
                      </a:r>
                      <a:endParaRPr lang="en-IN" sz="1600" b="0" i="0" dirty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Unified watchlist to track tickers, values, changes, and AI insights</a:t>
                      </a:r>
                      <a:endParaRPr lang="en-IN" sz="1600" b="0" i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79819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Analysis results are lost after viewing</a:t>
                      </a:r>
                      <a:endParaRPr lang="en-IN" sz="1600" b="0" i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Saved reports with executive summary, financials &amp; recommendations</a:t>
                      </a:r>
                      <a:endParaRPr lang="en-IN" sz="1600" b="0" i="0" dirty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029969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Professional tools are expensive</a:t>
                      </a:r>
                      <a:endParaRPr lang="en-IN" sz="1600" b="0" i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Free, browser-based, no subscription — runs locally</a:t>
                      </a:r>
                      <a:endParaRPr lang="en-IN" sz="1600" b="0" i="0" dirty="0">
                        <a:solidFill>
                          <a:srgbClr val="BBBEB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592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511123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latin typeface="+mj-lt"/>
              </a:rPr>
              <a:t>Technology Used:-</a:t>
            </a:r>
            <a:endParaRPr lang="en-IN" sz="28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omic Sans MS" panose="030F0702030302020204" pitchFamily="66" charset="0"/>
              </a:rPr>
              <a:t>IBM Bob platform </a:t>
            </a:r>
            <a:r>
              <a:rPr lang="en-US" sz="1800" dirty="0">
                <a:latin typeface="Comic Sans MS" panose="030F0702030302020204" pitchFamily="66" charset="0"/>
              </a:rPr>
              <a:t>-For designing and orchestrating multi-agent workflows visually</a:t>
            </a:r>
          </a:p>
          <a:p>
            <a:endParaRPr lang="en-US" sz="1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omic Sans MS" panose="030F0702030302020204" pitchFamily="66" charset="0"/>
              </a:rPr>
              <a:t>IBM </a:t>
            </a:r>
            <a:r>
              <a:rPr lang="en-US" sz="1800" b="1" dirty="0" err="1">
                <a:latin typeface="Comic Sans MS" panose="030F0702030302020204" pitchFamily="66" charset="0"/>
              </a:rPr>
              <a:t>Grainte</a:t>
            </a:r>
            <a:r>
              <a:rPr lang="en-US" sz="1800" b="1" dirty="0">
                <a:latin typeface="Comic Sans MS" panose="030F0702030302020204" pitchFamily="66" charset="0"/>
              </a:rPr>
              <a:t> model </a:t>
            </a:r>
            <a:r>
              <a:rPr lang="en-US" sz="1800" dirty="0">
                <a:latin typeface="Comic Sans MS" panose="030F0702030302020204" pitchFamily="66" charset="0"/>
              </a:rPr>
              <a:t>-  for </a:t>
            </a:r>
            <a:r>
              <a:rPr lang="en-US" sz="1800" dirty="0" err="1">
                <a:latin typeface="Comic Sans MS" panose="030F0702030302020204" pitchFamily="66" charset="0"/>
              </a:rPr>
              <a:t>eg</a:t>
            </a:r>
            <a:r>
              <a:rPr lang="en-US" sz="1800" dirty="0">
                <a:latin typeface="Comic Sans MS" panose="030F0702030302020204" pitchFamily="66" charset="0"/>
              </a:rPr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omic Sans MS" panose="030F0702030302020204" pitchFamily="66" charset="0"/>
              </a:rPr>
              <a:t>IBM Cloud </a:t>
            </a:r>
            <a:r>
              <a:rPr lang="en-US" sz="1800" dirty="0">
                <a:latin typeface="Comic Sans MS" panose="030F0702030302020204" pitchFamily="66" charset="0"/>
              </a:rPr>
              <a:t>– It provides the infrastructure to build, deploy, and scale the Nutrition Agent efficiently. IBM Cloud enables a </a:t>
            </a:r>
            <a:r>
              <a:rPr lang="en-US" sz="1800" b="1" dirty="0">
                <a:latin typeface="Comic Sans MS" panose="030F0702030302020204" pitchFamily="66" charset="0"/>
              </a:rPr>
              <a:t>reliable, secure, and scalable environment</a:t>
            </a:r>
            <a:r>
              <a:rPr lang="en-US" sz="1800" dirty="0">
                <a:latin typeface="Comic Sans MS" panose="030F0702030302020204" pitchFamily="66" charset="0"/>
              </a:rPr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omic Sans MS" panose="030F0702030302020204" pitchFamily="66" charset="0"/>
              </a:rPr>
              <a:t>RAG– </a:t>
            </a:r>
            <a:r>
              <a:rPr lang="en-US" sz="1800" dirty="0">
                <a:latin typeface="Comic Sans MS" panose="030F0702030302020204" pitchFamily="66" charset="0"/>
              </a:rPr>
              <a:t>RAG to </a:t>
            </a:r>
            <a:r>
              <a:rPr lang="en-US" sz="1800" b="1" dirty="0">
                <a:latin typeface="Comic Sans MS" panose="030F0702030302020204" pitchFamily="66" charset="0"/>
              </a:rPr>
              <a:t>fetch real data first, then generate intelligent answers</a:t>
            </a:r>
            <a:r>
              <a:rPr lang="en-US" sz="1800" dirty="0">
                <a:latin typeface="Comic Sans MS" panose="030F0702030302020204" pitchFamily="66" charset="0"/>
              </a:rPr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omic Sans MS" panose="030F0702030302020204" pitchFamily="66" charset="0"/>
              </a:rPr>
              <a:t>IBM Watsonx.ai - </a:t>
            </a:r>
            <a:r>
              <a:rPr lang="en-US" sz="1800" dirty="0">
                <a:latin typeface="Comic Sans MS" panose="030F0702030302020204" pitchFamily="66" charset="0"/>
              </a:rPr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omic Sans MS" panose="030F0702030302020204" pitchFamily="66" charset="0"/>
              </a:rPr>
              <a:t>Vector Database </a:t>
            </a:r>
            <a:r>
              <a:rPr lang="en-IN" sz="1800" dirty="0">
                <a:latin typeface="Comic Sans MS" panose="030F0702030302020204" pitchFamily="66" charset="0"/>
              </a:rPr>
              <a:t>(FAISS/Chroma) – For RAG-based nutritional data retrieval</a:t>
            </a:r>
            <a:endParaRPr lang="en-US" sz="1800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1152210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App.jsx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Main.jsx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7BB50-6375-55E5-C477-DD9E0DCF3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301" y="944158"/>
            <a:ext cx="6751986" cy="48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8052A-3A7D-7317-CC00-CAEF8A95F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116" y="978407"/>
            <a:ext cx="9573768" cy="519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9E1565-5A08-4999-EFAA-6D8E3C958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197865"/>
            <a:ext cx="9272016" cy="48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C4D424-0186-E3B1-F8FF-27BF2805C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17190"/>
              </p:ext>
            </p:extLst>
          </p:nvPr>
        </p:nvGraphicFramePr>
        <p:xfrm>
          <a:off x="441960" y="2569464"/>
          <a:ext cx="7266432" cy="3199672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3633216">
                  <a:extLst>
                    <a:ext uri="{9D8B030D-6E8A-4147-A177-3AD203B41FA5}">
                      <a16:colId xmlns:a16="http://schemas.microsoft.com/office/drawing/2014/main" val="1792902662"/>
                    </a:ext>
                  </a:extLst>
                </a:gridCol>
                <a:gridCol w="3633216">
                  <a:extLst>
                    <a:ext uri="{9D8B030D-6E8A-4147-A177-3AD203B41FA5}">
                      <a16:colId xmlns:a16="http://schemas.microsoft.com/office/drawing/2014/main" val="2579778334"/>
                    </a:ext>
                  </a:extLst>
                </a:gridCol>
              </a:tblGrid>
              <a:tr h="33680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b="1" dirty="0">
                          <a:effectLst/>
                        </a:rPr>
                        <a:t>Page:-</a:t>
                      </a:r>
                      <a:endParaRPr lang="en-IN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b="1" dirty="0">
                          <a:effectLst/>
                        </a:rPr>
                        <a:t>Agentic Role:-</a:t>
                      </a:r>
                      <a:endParaRPr lang="en-IN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678660"/>
                  </a:ext>
                </a:extLst>
              </a:tr>
              <a:tr h="57257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Analyze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Fetches live financials, computes ratios, writes custom report — end to end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304432"/>
                  </a:ext>
                </a:extLst>
              </a:tr>
              <a:tr h="57257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Upload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dirty="0">
                          <a:effectLst/>
                        </a:rPr>
                        <a:t>Parses document, extracts KPIs, flags anomalies, summarizes</a:t>
                      </a:r>
                      <a:endParaRPr lang="en-IN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287282"/>
                  </a:ext>
                </a:extLst>
              </a:tr>
              <a:tr h="57257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AI Chat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dirty="0">
                          <a:effectLst/>
                        </a:rPr>
                        <a:t>Remembers conversation, routes to tools, gives contextual advice</a:t>
                      </a:r>
                      <a:endParaRPr lang="en-IN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007074"/>
                  </a:ext>
                </a:extLst>
              </a:tr>
              <a:tr h="57257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Watchlist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Monitors stocks proactively, surfaces alerts without being asked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083719"/>
                  </a:ext>
                </a:extLst>
              </a:tr>
              <a:tr h="57257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Reports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dirty="0">
                          <a:effectLst/>
                        </a:rPr>
                        <a:t>Composes full structured report from raw data autonomously</a:t>
                      </a:r>
                      <a:endParaRPr lang="en-IN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9985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BB5AE4-8EA1-D76B-318C-2DFBB0865860}"/>
              </a:ext>
            </a:extLst>
          </p:cNvPr>
          <p:cNvSpPr txBox="1"/>
          <p:nvPr/>
        </p:nvSpPr>
        <p:spPr>
          <a:xfrm>
            <a:off x="441960" y="786384"/>
            <a:ext cx="749503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Arial"/>
              </a:rPr>
              <a:t>Agentic AI </a:t>
            </a:r>
            <a:r>
              <a:rPr lang="en-IN" sz="1400" b="1" i="0" dirty="0">
                <a:solidFill>
                  <a:srgbClr val="000000"/>
                </a:solidFill>
                <a:effectLst/>
                <a:latin typeface="Arial"/>
              </a:rPr>
              <a:t>perceives context → plans steps → takes actions → delivers results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Arial"/>
              </a:rPr>
              <a:t> autonomously — without a human guiding each step.</a:t>
            </a:r>
          </a:p>
          <a:p>
            <a:pPr marL="0" marR="0" indent="0" algn="l">
              <a:buNone/>
            </a:pPr>
            <a:endParaRPr lang="en-IN" dirty="0"/>
          </a:p>
          <a:p>
            <a:pPr indent="0" algn="l">
              <a:buNone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Arial"/>
              </a:rPr>
              <a:t>How it applies here</a:t>
            </a:r>
          </a:p>
          <a:p>
            <a:pPr>
              <a:buNone/>
            </a:pPr>
            <a:endParaRPr lang="en-IN" dirty="0"/>
          </a:p>
          <a:p>
            <a:pPr indent="0" algn="l">
              <a:buNone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Arial"/>
              </a:rPr>
              <a:t>The loop</a:t>
            </a:r>
          </a:p>
          <a:p>
            <a:pPr marL="0" marR="0" indent="0" algn="l" rtl="0" latinLnBrk="0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Arial"/>
              </a:rPr>
              <a:t>Input → Perceive → Plan → Act → Reflect → Respond</a:t>
            </a:r>
            <a:endParaRPr lang="en-IN" sz="1400" b="0" i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CB63F-0D07-D87F-D59D-E063CABFF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1371159"/>
            <a:ext cx="4160520" cy="41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Usage:-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924824" y="904350"/>
            <a:ext cx="43711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6 Bobcoins are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A64FA-90E6-D3B6-8F32-7A373CBE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900" y="1481328"/>
            <a:ext cx="8723376" cy="491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08B67-AB40-EE72-DF23-D0EA20F40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271" y="991719"/>
            <a:ext cx="8321761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9727F-451B-9579-58BE-9F8FEDE7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884" y="1442400"/>
            <a:ext cx="8714232" cy="383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F3535-098E-1B07-7A43-C5950E066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830349"/>
            <a:ext cx="7891272" cy="519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685800" y="420624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347472" y="1152144"/>
            <a:ext cx="11430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Novelty &amp; Uniqueness of </a:t>
            </a:r>
            <a:r>
              <a:rPr lang="en-IN" b="1" dirty="0" err="1"/>
              <a:t>InvestAI</a:t>
            </a:r>
            <a:endParaRPr lang="en-IN" b="1" dirty="0"/>
          </a:p>
          <a:p>
            <a:r>
              <a:rPr lang="en-IN" dirty="0" err="1"/>
              <a:t>InvestAI</a:t>
            </a:r>
            <a:r>
              <a:rPr lang="en-IN" dirty="0"/>
              <a:t> stands out because it brings together everything a student or beginner investor needs into one single, free, browser-based tool — no subscription, no login barrier, no financial background required.</a:t>
            </a:r>
          </a:p>
          <a:p>
            <a:r>
              <a:rPr lang="en-IN" dirty="0"/>
              <a:t>Most existing tools either show you data (stock screeners, dashboards) or answer questions (chatbots) — but none combine document understanding, risk scoring, portfolio tracking, and a conversational AI assistant in one unified experience. </a:t>
            </a:r>
            <a:r>
              <a:rPr lang="en-IN" dirty="0" err="1"/>
              <a:t>InvestAI</a:t>
            </a:r>
            <a:r>
              <a:rPr lang="en-IN" dirty="0"/>
              <a:t> does all of this together.</a:t>
            </a:r>
          </a:p>
          <a:p>
            <a:r>
              <a:rPr lang="en-IN" dirty="0"/>
              <a:t>The document intelligence feature is particularly novel — users can upload any real financial report (PDF, Excel, Word) and get a plain-English AI summary instantly, something typically reserved for expensive enterprise platforms.</a:t>
            </a:r>
          </a:p>
          <a:p>
            <a:r>
              <a:rPr lang="en-IN" dirty="0"/>
              <a:t>The risk scoring engine goes beyond a simple label. It reasons over multiple factors — market conditions, sector risks, company financials, and the user's own risk preference — and produces a scored, visual, explained output that helps users actually understand why an investment is risky, not just that it is.</a:t>
            </a:r>
          </a:p>
          <a:p>
            <a:r>
              <a:rPr lang="en-IN" dirty="0"/>
              <a:t>The AI chat assistant is context-aware and always available, acting like a personal financial guide that speaks in simple language rather than industry jargon.</a:t>
            </a:r>
          </a:p>
          <a:p>
            <a:r>
              <a:rPr lang="en-IN" dirty="0"/>
              <a:t>Finally, the entire workflow — from </a:t>
            </a:r>
            <a:r>
              <a:rPr lang="en-IN" dirty="0" err="1"/>
              <a:t>analyzing</a:t>
            </a:r>
            <a:r>
              <a:rPr lang="en-IN" dirty="0"/>
              <a:t> a company to saving a report to tracking it on a watchlist — happens inside one app, with no switching between tools.</a:t>
            </a:r>
          </a:p>
          <a:p>
            <a:r>
              <a:rPr lang="en-IN" dirty="0"/>
              <a:t>In short, </a:t>
            </a:r>
            <a:r>
              <a:rPr lang="en-IN" dirty="0" err="1"/>
              <a:t>InvestAI</a:t>
            </a:r>
            <a:r>
              <a:rPr lang="en-IN" dirty="0"/>
              <a:t> makes professional-grade investment analysis accessible, explainable, and free for anyone — which is its core novelty.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EB974E-1438-B591-E20B-4E6F2DEAF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135140"/>
              </p:ext>
            </p:extLst>
          </p:nvPr>
        </p:nvGraphicFramePr>
        <p:xfrm>
          <a:off x="841248" y="1221715"/>
          <a:ext cx="10512552" cy="4592025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5254752">
                  <a:extLst>
                    <a:ext uri="{9D8B030D-6E8A-4147-A177-3AD203B41FA5}">
                      <a16:colId xmlns:a16="http://schemas.microsoft.com/office/drawing/2014/main" val="37413045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51691390"/>
                    </a:ext>
                  </a:extLst>
                </a:gridCol>
              </a:tblGrid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Area</a:t>
                      </a:r>
                      <a:endParaRPr lang="en-IN" sz="1600" b="1" i="0" dirty="0">
                        <a:solidFill>
                          <a:srgbClr val="BFBF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Future Addition</a:t>
                      </a:r>
                      <a:endParaRPr lang="en-IN" sz="1600" b="1" i="0" dirty="0">
                        <a:solidFill>
                          <a:srgbClr val="BFBF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630771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AI Engine</a:t>
                      </a:r>
                      <a:endParaRPr lang="en-IN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Real LLM — OpenAI / watsonx.ai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715832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Market Data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Live prices via Alpha Vantage / Yahoo Finance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467658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Backend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Node.js / FastAPI + PostgreSQL / Supabase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561104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Auth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JWT login, user profiles, persistent data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685203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Charts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Interactive portfolio graphs, sector breakdowns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533463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Agentic AI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Proactive alerts, autonomous research, weekly digests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180476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Mobile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React Native app or PWA</a:t>
                      </a:r>
                      <a:endParaRPr lang="en-IN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381853"/>
                  </a:ext>
                </a:extLst>
              </a:tr>
              <a:tr h="51022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Global reach</a:t>
                      </a:r>
                      <a:endParaRPr lang="en-IN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Multilingual support</a:t>
                      </a:r>
                      <a:endParaRPr lang="en-IN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985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BE2FD-7AA9-B161-8F51-7A4978663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45" y="884488"/>
            <a:ext cx="9335309" cy="46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CE8AF-B16F-20B1-CE80-B089765B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13" y="1000525"/>
            <a:ext cx="9982707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1005</Words>
  <Application>Microsoft Office PowerPoint</Application>
  <PresentationFormat>Widescreen</PresentationFormat>
  <Paragraphs>144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Comic Sans MS</vt:lpstr>
      <vt:lpstr>Consolas</vt:lpstr>
      <vt:lpstr>Segoe WPC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Manjunath S Dyamugol</cp:lastModifiedBy>
  <cp:revision>3</cp:revision>
  <dcterms:created xsi:type="dcterms:W3CDTF">2025-07-08T05:06:56Z</dcterms:created>
  <dcterms:modified xsi:type="dcterms:W3CDTF">2026-09-23T07:07:37Z</dcterms:modified>
</cp:coreProperties>
</file>